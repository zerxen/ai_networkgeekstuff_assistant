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7" r:id="rId3"/>
    <p:sldId id="257" r:id="rId4"/>
    <p:sldId id="258" r:id="rId5"/>
    <p:sldId id="261" r:id="rId6"/>
    <p:sldId id="26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78" y="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2A11A-54DB-4ABF-A46B-A9E5508E045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497C1-193E-4CA0-8A03-EB3C992A9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50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497C1-193E-4CA0-8A03-EB3C992A98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70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5775" y="120650"/>
            <a:ext cx="1645920" cy="1841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69399" y="279400"/>
            <a:ext cx="3022295" cy="1543050"/>
          </a:xfrm>
          <a:prstGeom prst="rect">
            <a:avLst/>
          </a:prstGeom>
          <a:solidFill>
            <a:srgbClr val="002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3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423" y="457200"/>
            <a:ext cx="2560320" cy="1188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59" y="1939647"/>
            <a:ext cx="9486579" cy="8925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5200" b="1" dirty="0">
                <a:solidFill>
                  <a:srgbClr val="FFFFFF"/>
                </a:solidFill>
              </a:rPr>
              <a:t>Low hanging fruit with local LLMs</a:t>
            </a:r>
            <a:endParaRPr sz="5200" b="1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8664551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sz="2200" dirty="0">
                <a:solidFill>
                  <a:srgbClr val="1192E8"/>
                </a:solidFill>
              </a:rPr>
              <a:t>Combining local LLM with tools and RAG to get network assistant out of AI</a:t>
            </a:r>
            <a:endParaRPr sz="2200" dirty="0">
              <a:solidFill>
                <a:srgbClr val="1192E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4160520"/>
            <a:ext cx="8229600" cy="27432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4279392"/>
            <a:ext cx="1803699" cy="2616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697077"/>
                </a:solidFill>
              </a:rPr>
              <a:t>Peter Havrila  | IBM  | 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" y="656539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7"/>
                </a:solidFill>
              </a:rPr>
              <a:t>© IBM Corporation 2026  |  Peter Havrila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54535" y="6537960"/>
            <a:ext cx="137160" cy="3200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F4B0-AACE-1DE1-370A-0BE32A5E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106BE2-21B9-AF82-37E2-7D5E8BFA1EF8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17AB43-166C-78B3-3153-9944CB8F66DA}"/>
              </a:ext>
            </a:extLst>
          </p:cNvPr>
          <p:cNvSpPr txBox="1"/>
          <p:nvPr/>
        </p:nvSpPr>
        <p:spPr>
          <a:xfrm>
            <a:off x="457200" y="137160"/>
            <a:ext cx="105156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043CE"/>
                </a:solidFill>
              </a:rPr>
              <a:t>Motivations</a:t>
            </a:r>
            <a:endParaRPr sz="2400" b="1" dirty="0">
              <a:solidFill>
                <a:srgbClr val="0043C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73180-D85D-C5D3-7219-925F9879704B}"/>
              </a:ext>
            </a:extLst>
          </p:cNvPr>
          <p:cNvSpPr/>
          <p:nvPr/>
        </p:nvSpPr>
        <p:spPr>
          <a:xfrm>
            <a:off x="457200" y="1024128"/>
            <a:ext cx="11247120" cy="2286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3logo.png">
            <a:extLst>
              <a:ext uri="{FF2B5EF4-FFF2-40B4-BE49-F238E27FC236}">
                <a16:creationId xmlns:a16="http://schemas.microsoft.com/office/drawing/2014/main" id="{A8E8D5B8-276E-8062-979E-1175DF4C0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949" y="120430"/>
            <a:ext cx="1985342" cy="8716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EB4F9D8-D05F-49EC-E001-2817BCB9AD7E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909B7-15FD-216B-2887-458CBAE00A3B}"/>
              </a:ext>
            </a:extLst>
          </p:cNvPr>
          <p:cNvSpPr txBox="1"/>
          <p:nvPr/>
        </p:nvSpPr>
        <p:spPr>
          <a:xfrm>
            <a:off x="182880" y="6588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697077"/>
                </a:solidFill>
              </a:rPr>
              <a:t>© IBM Corporation 2026  |  Peter Havrila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C018C6-8722-7745-3CF4-7F0326C0CD98}"/>
              </a:ext>
            </a:extLst>
          </p:cNvPr>
          <p:cNvSpPr/>
          <p:nvPr/>
        </p:nvSpPr>
        <p:spPr>
          <a:xfrm>
            <a:off x="12054535" y="6537960"/>
            <a:ext cx="137160" cy="3200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50FFF4F0-D0AE-284A-9FFB-E1B3D98AF785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119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1DB509C0-1804-9B2C-0284-94661E01BC34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119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EF21F54-9C4B-7F21-C657-67AA1F7E4701}"/>
              </a:ext>
            </a:extLst>
          </p:cNvPr>
          <p:cNvSpPr txBox="1"/>
          <p:nvPr/>
        </p:nvSpPr>
        <p:spPr>
          <a:xfrm>
            <a:off x="457200" y="1181100"/>
            <a:ext cx="11004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 Management is stability-first operations, LLMs are not there yet to take over. HOWEVER: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Networks are not complicated, only complex, so LLMs should be able to be very helpful reviewing large network datasets and be in review/advisory roles accelerating tasks inside network engineer's role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With RAG and other post-training context extensions, we should be able to enforce rules, and post-training knowledge specific to our enterprise networks (e.g. vectorize a new vendor configuration guide or enforce IBM specifics like interface/description/hostname conventions and </a:t>
            </a:r>
            <a:r>
              <a:rPr lang="en-US" dirty="0" err="1"/>
              <a:t>etc</a:t>
            </a:r>
            <a:r>
              <a:rPr lang="en-US" dirty="0"/>
              <a:t>… )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Only using local LLMs on workflow backend (or technically </a:t>
            </a:r>
            <a:r>
              <a:rPr lang="en-US" dirty="0" err="1"/>
              <a:t>watsonx</a:t>
            </a:r>
            <a:r>
              <a:rPr lang="en-US" dirty="0"/>
              <a:t>) this can be inserted into automation platforms with tentacles to </a:t>
            </a:r>
            <a:r>
              <a:rPr lang="en-US" dirty="0" err="1"/>
              <a:t>FSoT</a:t>
            </a:r>
            <a:r>
              <a:rPr lang="en-US" dirty="0"/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With large RAG contexts insertions, the cost of using commercial tokens based LLM the costs would sky-rocket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BFD5CB-1454-BD0D-87A7-653575BE0C6C}"/>
              </a:ext>
            </a:extLst>
          </p:cNvPr>
          <p:cNvSpPr/>
          <p:nvPr/>
        </p:nvSpPr>
        <p:spPr>
          <a:xfrm>
            <a:off x="687068" y="5445252"/>
            <a:ext cx="10466035" cy="347472"/>
          </a:xfrm>
          <a:prstGeom prst="rect">
            <a:avLst/>
          </a:prstGeom>
          <a:solidFill>
            <a:srgbClr val="FFF3CD"/>
          </a:solidFill>
          <a:ln w="9525">
            <a:solidFill>
              <a:srgbClr val="FF8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AC6EE-C411-2D07-C063-C8C5CD263724}"/>
              </a:ext>
            </a:extLst>
          </p:cNvPr>
          <p:cNvSpPr txBox="1"/>
          <p:nvPr/>
        </p:nvSpPr>
        <p:spPr>
          <a:xfrm>
            <a:off x="778508" y="5513832"/>
            <a:ext cx="10260819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000" b="0" i="1" dirty="0">
                <a:solidFill>
                  <a:srgbClr val="161616"/>
                </a:solidFill>
              </a:rPr>
              <a:t>Secondary motivation is to have AI assistant that knows everything I have in my Obsidian/OneNote and can help me recover work specific contacts / processes / and potentially answer Slack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399691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43CE"/>
                </a:solidFill>
              </a:rPr>
              <a:t>Demo Lab: </a:t>
            </a:r>
            <a:r>
              <a:rPr lang="en-US" sz="2400" b="1" dirty="0">
                <a:solidFill>
                  <a:srgbClr val="0043CE"/>
                </a:solidFill>
              </a:rPr>
              <a:t>Simplified to use larger LLM in timeslot</a:t>
            </a:r>
            <a:endParaRPr sz="2400" b="1" dirty="0">
              <a:solidFill>
                <a:srgbClr val="0043C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2923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97077"/>
                </a:solidFill>
              </a:rPr>
              <a:t>2× Spines  |  2× L3 Leaf Pairs  |  2× L2 Leaves  |  2× </a:t>
            </a:r>
            <a:r>
              <a:rPr lang="en-US" sz="1300" b="0" dirty="0">
                <a:solidFill>
                  <a:srgbClr val="697077"/>
                </a:solidFill>
              </a:rPr>
              <a:t>Server</a:t>
            </a:r>
            <a:r>
              <a:rPr sz="1300" b="0" dirty="0">
                <a:solidFill>
                  <a:srgbClr val="697077"/>
                </a:solidFill>
              </a:rPr>
              <a:t>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47120" cy="2286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3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949" y="120430"/>
            <a:ext cx="1985342" cy="87169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88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7"/>
                </a:solidFill>
              </a:rPr>
              <a:t>© IBM Corporation 2026  |  Peter Havrila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54535" y="6537960"/>
            <a:ext cx="137160" cy="3200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7375" y="1494028"/>
            <a:ext cx="11521440" cy="5029200"/>
          </a:xfrm>
          <a:prstGeom prst="rect">
            <a:avLst/>
          </a:prstGeom>
          <a:solidFill>
            <a:srgbClr val="F0F4FF"/>
          </a:solidFill>
          <a:ln w="12700">
            <a:solidFill>
              <a:srgbClr val="004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119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119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577340" y="4060607"/>
            <a:ext cx="9326880" cy="347472"/>
          </a:xfrm>
          <a:prstGeom prst="rect">
            <a:avLst/>
          </a:prstGeom>
          <a:solidFill>
            <a:srgbClr val="FFF3CD"/>
          </a:solidFill>
          <a:ln w="9525">
            <a:solidFill>
              <a:srgbClr val="FF8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668780" y="4129187"/>
            <a:ext cx="914400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00" b="0" i="1" dirty="0">
                <a:solidFill>
                  <a:srgbClr val="161616"/>
                </a:solidFill>
              </a:rPr>
              <a:t>Demo: </a:t>
            </a:r>
            <a:r>
              <a:rPr lang="en-US" sz="1000" b="0" i="1" dirty="0">
                <a:solidFill>
                  <a:srgbClr val="161616"/>
                </a:solidFill>
              </a:rPr>
              <a:t> </a:t>
            </a:r>
            <a:r>
              <a:rPr lang="en-US" sz="1000" i="1" dirty="0" err="1"/>
              <a:t>containerlab</a:t>
            </a:r>
            <a:r>
              <a:rPr lang="en-US" sz="1000" i="1" dirty="0"/>
              <a:t> redeploy </a:t>
            </a:r>
            <a:r>
              <a:rPr lang="en-US" sz="1000" i="1" dirty="0" err="1"/>
              <a:t>topology.clab.yaml</a:t>
            </a:r>
            <a:endParaRPr lang="en-US" sz="1000" i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C431EC-B0BF-7BA0-AA8D-90ED726FD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297" y="1990507"/>
            <a:ext cx="8269652" cy="19210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903762-1CCE-FF16-1C5B-9DE940A6B070}"/>
              </a:ext>
            </a:extLst>
          </p:cNvPr>
          <p:cNvSpPr txBox="1"/>
          <p:nvPr/>
        </p:nvSpPr>
        <p:spPr>
          <a:xfrm>
            <a:off x="7159625" y="4700414"/>
            <a:ext cx="6140450" cy="1543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1" dirty="0">
                <a:effectLst/>
                <a:latin typeface="Consolas" panose="020B0609020204030204" pitchFamily="49" charset="0"/>
              </a:rPr>
              <a:t>**ubuntu1**</a:t>
            </a:r>
            <a:r>
              <a:rPr lang="en-US" b="0" dirty="0"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1" dirty="0">
                <a:effectLst/>
                <a:latin typeface="Consolas" panose="020B0609020204030204" pitchFamily="49" charset="0"/>
              </a:rPr>
              <a:t>**Username**</a:t>
            </a:r>
            <a:r>
              <a:rPr lang="en-US" b="0" dirty="0"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clab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1" dirty="0">
                <a:effectLst/>
                <a:latin typeface="Consolas" panose="020B0609020204030204" pitchFamily="49" charset="0"/>
              </a:rPr>
              <a:t>**Password**</a:t>
            </a:r>
            <a:r>
              <a:rPr lang="en-US" b="0" dirty="0"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`clab@123`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1" dirty="0">
                <a:effectLst/>
                <a:latin typeface="Consolas" panose="020B0609020204030204" pitchFamily="49" charset="0"/>
              </a:rPr>
              <a:t>**cisco1**</a:t>
            </a:r>
            <a:r>
              <a:rPr lang="en-US" b="0" dirty="0"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1" dirty="0">
                <a:effectLst/>
                <a:latin typeface="Consolas" panose="020B0609020204030204" pitchFamily="49" charset="0"/>
              </a:rPr>
              <a:t>**Username**</a:t>
            </a:r>
            <a:r>
              <a:rPr lang="en-US" b="0" dirty="0"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`admin`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effectLst/>
                <a:latin typeface="Consolas" panose="020B0609020204030204" pitchFamily="49" charset="0"/>
              </a:rPr>
              <a:t>*   </a:t>
            </a:r>
            <a:r>
              <a:rPr lang="en-US" b="1" dirty="0">
                <a:effectLst/>
                <a:latin typeface="Consolas" panose="020B0609020204030204" pitchFamily="49" charset="0"/>
              </a:rPr>
              <a:t>**Password**</a:t>
            </a:r>
            <a:r>
              <a:rPr lang="en-US" b="0" dirty="0"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`admin`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43CE"/>
                </a:solidFill>
              </a:defRPr>
            </a:lvl1pPr>
          </a:lstStyle>
          <a:p>
            <a:r>
              <a:rPr lang="en-US" dirty="0"/>
              <a:t>LLM Tools and </a:t>
            </a:r>
            <a:r>
              <a:rPr lang="en-US" dirty="0" err="1"/>
              <a:t>KnowledgeSources</a:t>
            </a:r>
            <a:r>
              <a:rPr lang="en-US" dirty="0"/>
              <a:t> (RAG + tools search)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47120" cy="2286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88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7"/>
                </a:solidFill>
              </a:rPr>
              <a:t>© IBM Corporation 2026  |  Peter Havrila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54535" y="6537960"/>
            <a:ext cx="137160" cy="3200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4663440" cy="274320"/>
          </a:xfrm>
          <a:prstGeom prst="rect">
            <a:avLst/>
          </a:prstGeom>
          <a:solidFill>
            <a:srgbClr val="002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214120"/>
            <a:ext cx="457200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Tools.py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1463040"/>
            <a:ext cx="4663440" cy="4800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57800" y="1188720"/>
            <a:ext cx="6583680" cy="5074920"/>
          </a:xfrm>
          <a:prstGeom prst="rect">
            <a:avLst/>
          </a:prstGeom>
          <a:solidFill>
            <a:srgbClr val="F4F4F4"/>
          </a:solidFill>
          <a:ln w="9525">
            <a:solidFill>
              <a:srgbClr val="004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1261872"/>
            <a:ext cx="64008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0043CE"/>
                </a:solidFill>
              </a:rPr>
              <a:t>Tools exposed to LLM via OpenAI tools, insertion</a:t>
            </a:r>
            <a:endParaRPr sz="1100" b="1" dirty="0">
              <a:solidFill>
                <a:srgbClr val="0043CE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45946" y="1575793"/>
            <a:ext cx="3176415" cy="682385"/>
          </a:xfrm>
          <a:prstGeom prst="roundRect">
            <a:avLst>
              <a:gd name="adj" fmla="val 10000"/>
            </a:avLst>
          </a:prstGeom>
          <a:solidFill>
            <a:srgbClr val="002D9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5488263" y="1614483"/>
            <a:ext cx="2304288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Ollama or </a:t>
            </a:r>
            <a:r>
              <a:rPr lang="en-US" sz="1200" b="1" dirty="0" err="1">
                <a:solidFill>
                  <a:srgbClr val="FFFFFF"/>
                </a:solidFill>
              </a:rPr>
              <a:t>LMStudio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8262" y="1788787"/>
            <a:ext cx="3176413" cy="4154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50" b="0" dirty="0">
                <a:solidFill>
                  <a:srgbClr val="DDDDDD"/>
                </a:solidFill>
              </a:rPr>
              <a:t>Qwen / Gamma 4 / Mistral / </a:t>
            </a:r>
            <a:r>
              <a:rPr lang="en-US" sz="1050" b="0" dirty="0" err="1">
                <a:solidFill>
                  <a:srgbClr val="DDDDDD"/>
                </a:solidFill>
              </a:rPr>
              <a:t>Deepseek</a:t>
            </a:r>
            <a:endParaRPr lang="en-US" sz="1050" b="0" dirty="0">
              <a:solidFill>
                <a:srgbClr val="DDDDDD"/>
              </a:solidFill>
            </a:endParaRPr>
          </a:p>
          <a:p>
            <a:pPr algn="l"/>
            <a:r>
              <a:rPr lang="en-US" sz="1050" dirty="0">
                <a:solidFill>
                  <a:srgbClr val="DDDDDD"/>
                </a:solidFill>
              </a:rPr>
              <a:t>(prerequisite trained for tool’s use)</a:t>
            </a:r>
            <a:endParaRPr sz="1050" b="0" dirty="0">
              <a:solidFill>
                <a:srgbClr val="DDDDDD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28711" y="2323373"/>
            <a:ext cx="2377440" cy="438653"/>
          </a:xfrm>
          <a:prstGeom prst="roundRect">
            <a:avLst>
              <a:gd name="adj" fmla="val 10000"/>
            </a:avLst>
          </a:prstGeom>
          <a:solidFill>
            <a:srgbClr val="0043C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7962899" y="2347081"/>
            <a:ext cx="2304288" cy="4385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2"/>
                </a:solidFill>
              </a:rPr>
              <a:t>getCurrentDateAndTime</a:t>
            </a:r>
            <a:r>
              <a:rPr lang="en-US" sz="1200" dirty="0">
                <a:solidFill>
                  <a:schemeClr val="bg2"/>
                </a:solidFill>
              </a:rPr>
              <a:t>()</a:t>
            </a:r>
          </a:p>
          <a:p>
            <a:pPr algn="l"/>
            <a:endParaRPr sz="1000" b="1" dirty="0">
              <a:solidFill>
                <a:schemeClr val="bg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55279" y="2820833"/>
            <a:ext cx="3090333" cy="444957"/>
          </a:xfrm>
          <a:prstGeom prst="roundRect">
            <a:avLst>
              <a:gd name="adj" fmla="val 10000"/>
            </a:avLst>
          </a:prstGeom>
          <a:solidFill>
            <a:srgbClr val="0043C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8028432" y="2846233"/>
            <a:ext cx="2944368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2"/>
                </a:solidFill>
              </a:rPr>
              <a:t>getContainerLabTopologyInformation</a:t>
            </a:r>
            <a:r>
              <a:rPr lang="en-US" sz="1200" dirty="0">
                <a:solidFill>
                  <a:schemeClr val="bg2"/>
                </a:solidFill>
              </a:rPr>
              <a:t>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361017"/>
            <a:ext cx="3090333" cy="453620"/>
          </a:xfrm>
          <a:prstGeom prst="roundRect">
            <a:avLst>
              <a:gd name="adj" fmla="val 10000"/>
            </a:avLst>
          </a:prstGeom>
          <a:solidFill>
            <a:srgbClr val="0043C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Rounded Rectangle 28"/>
          <p:cNvSpPr/>
          <p:nvPr/>
        </p:nvSpPr>
        <p:spPr>
          <a:xfrm>
            <a:off x="7962899" y="3918112"/>
            <a:ext cx="3090333" cy="495231"/>
          </a:xfrm>
          <a:prstGeom prst="roundRect">
            <a:avLst>
              <a:gd name="adj" fmla="val 10000"/>
            </a:avLst>
          </a:prstGeom>
          <a:solidFill>
            <a:srgbClr val="009D9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Rounded Rectangle 31"/>
          <p:cNvSpPr/>
          <p:nvPr/>
        </p:nvSpPr>
        <p:spPr>
          <a:xfrm>
            <a:off x="5445946" y="4696831"/>
            <a:ext cx="2719645" cy="495233"/>
          </a:xfrm>
          <a:prstGeom prst="roundRect">
            <a:avLst>
              <a:gd name="adj" fmla="val 10000"/>
            </a:avLst>
          </a:prstGeom>
          <a:solidFill>
            <a:srgbClr val="198A3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/>
          <p:cNvSpPr txBox="1"/>
          <p:nvPr/>
        </p:nvSpPr>
        <p:spPr>
          <a:xfrm>
            <a:off x="5488262" y="4728890"/>
            <a:ext cx="294436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RAG </a:t>
            </a:r>
            <a:br>
              <a:rPr lang="en-US" sz="1200" b="1" dirty="0">
                <a:solidFill>
                  <a:srgbClr val="FFFFFF"/>
                </a:solidFill>
              </a:rPr>
            </a:br>
            <a:r>
              <a:rPr lang="en-US" sz="1200" b="1" dirty="0">
                <a:solidFill>
                  <a:srgbClr val="FFFFFF"/>
                </a:solidFill>
              </a:rPr>
              <a:t>(</a:t>
            </a:r>
            <a:r>
              <a:rPr lang="en-US" sz="1200" b="1" dirty="0" err="1">
                <a:solidFill>
                  <a:srgbClr val="FFFFFF"/>
                </a:solidFill>
              </a:rPr>
              <a:t>chroma_db</a:t>
            </a:r>
            <a:r>
              <a:rPr lang="en-US" sz="1200" b="1" dirty="0">
                <a:solidFill>
                  <a:srgbClr val="FFFFFF"/>
                </a:solidFill>
              </a:rPr>
              <a:t> vectorized knowledge)</a:t>
            </a:r>
            <a:endParaRPr sz="1200" b="1" dirty="0">
              <a:solidFill>
                <a:srgbClr val="FFFFFF"/>
              </a:solidFill>
            </a:endParaRPr>
          </a:p>
        </p:txBody>
      </p:sp>
      <p:cxnSp>
        <p:nvCxnSpPr>
          <p:cNvPr id="38" name="Connector 37"/>
          <p:cNvCxnSpPr>
            <a:cxnSpLocks/>
          </p:cNvCxnSpPr>
          <p:nvPr/>
        </p:nvCxnSpPr>
        <p:spPr>
          <a:xfrm>
            <a:off x="6634667" y="2268744"/>
            <a:ext cx="0" cy="1884839"/>
          </a:xfrm>
          <a:prstGeom prst="line">
            <a:avLst/>
          </a:prstGeom>
          <a:ln w="9525">
            <a:solidFill>
              <a:srgbClr val="697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  <a:endCxn id="20" idx="1"/>
          </p:cNvCxnSpPr>
          <p:nvPr/>
        </p:nvCxnSpPr>
        <p:spPr>
          <a:xfrm>
            <a:off x="6634667" y="2541012"/>
            <a:ext cx="1294044" cy="1688"/>
          </a:xfrm>
          <a:prstGeom prst="line">
            <a:avLst/>
          </a:prstGeom>
          <a:ln w="9525">
            <a:solidFill>
              <a:srgbClr val="697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</p:cNvCxnSpPr>
          <p:nvPr/>
        </p:nvCxnSpPr>
        <p:spPr>
          <a:xfrm>
            <a:off x="6634667" y="3026664"/>
            <a:ext cx="1320613" cy="0"/>
          </a:xfrm>
          <a:prstGeom prst="line">
            <a:avLst/>
          </a:prstGeom>
          <a:ln w="9525">
            <a:solidFill>
              <a:srgbClr val="697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cxnSpLocks/>
          </p:cNvCxnSpPr>
          <p:nvPr/>
        </p:nvCxnSpPr>
        <p:spPr>
          <a:xfrm>
            <a:off x="6634667" y="3575304"/>
            <a:ext cx="1320613" cy="0"/>
          </a:xfrm>
          <a:prstGeom prst="line">
            <a:avLst/>
          </a:prstGeom>
          <a:ln w="9525">
            <a:solidFill>
              <a:srgbClr val="697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257800" y="5989320"/>
            <a:ext cx="6583680" cy="320040"/>
          </a:xfrm>
          <a:prstGeom prst="rect">
            <a:avLst/>
          </a:prstGeom>
          <a:solidFill>
            <a:srgbClr val="E0EAFF"/>
          </a:solidFill>
          <a:ln w="6350">
            <a:solidFill>
              <a:srgbClr val="004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94960" y="6007608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43CE"/>
                </a:solidFill>
              </a:rPr>
              <a:t>All devices inherit variables from their parent groups — no per-device configuration files needed</a:t>
            </a:r>
          </a:p>
        </p:txBody>
      </p:sp>
      <p:pic>
        <p:nvPicPr>
          <p:cNvPr id="44" name="Picture 43" descr="w3logo.png">
            <a:extLst>
              <a:ext uri="{FF2B5EF4-FFF2-40B4-BE49-F238E27FC236}">
                <a16:creationId xmlns:a16="http://schemas.microsoft.com/office/drawing/2014/main" id="{9361EBA3-0057-2B1C-4064-1ECBDA75D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949" y="120430"/>
            <a:ext cx="1985342" cy="871694"/>
          </a:xfrm>
          <a:prstGeom prst="rect">
            <a:avLst/>
          </a:prstGeom>
        </p:spPr>
      </p:pic>
      <p:cxnSp>
        <p:nvCxnSpPr>
          <p:cNvPr id="56" name="Connector 40">
            <a:extLst>
              <a:ext uri="{FF2B5EF4-FFF2-40B4-BE49-F238E27FC236}">
                <a16:creationId xmlns:a16="http://schemas.microsoft.com/office/drawing/2014/main" id="{1F5A87A6-1E4E-584D-8DDC-FFF0105155AD}"/>
              </a:ext>
            </a:extLst>
          </p:cNvPr>
          <p:cNvCxnSpPr>
            <a:cxnSpLocks/>
          </p:cNvCxnSpPr>
          <p:nvPr/>
        </p:nvCxnSpPr>
        <p:spPr>
          <a:xfrm>
            <a:off x="6634667" y="4117817"/>
            <a:ext cx="1314873" cy="0"/>
          </a:xfrm>
          <a:prstGeom prst="line">
            <a:avLst/>
          </a:prstGeom>
          <a:ln w="9525">
            <a:solidFill>
              <a:srgbClr val="697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llout: Left Arrow 56">
            <a:extLst>
              <a:ext uri="{FF2B5EF4-FFF2-40B4-BE49-F238E27FC236}">
                <a16:creationId xmlns:a16="http://schemas.microsoft.com/office/drawing/2014/main" id="{67AE2D6E-1D12-8399-3700-6D59B7FE3C98}"/>
              </a:ext>
            </a:extLst>
          </p:cNvPr>
          <p:cNvSpPr/>
          <p:nvPr/>
        </p:nvSpPr>
        <p:spPr>
          <a:xfrm>
            <a:off x="8527205" y="4699968"/>
            <a:ext cx="3156402" cy="1177455"/>
          </a:xfrm>
          <a:prstGeom prst="leftArrowCallout">
            <a:avLst>
              <a:gd name="adj1" fmla="val 29170"/>
              <a:gd name="adj2" fmla="val 26042"/>
              <a:gd name="adj3" fmla="val 25000"/>
              <a:gd name="adj4" fmla="val 7340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These are simply told to LLM in system prompt to use and reference before taking 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0C14E-6185-F9AA-E519-B23E58D6849A}"/>
              </a:ext>
            </a:extLst>
          </p:cNvPr>
          <p:cNvSpPr txBox="1"/>
          <p:nvPr/>
        </p:nvSpPr>
        <p:spPr>
          <a:xfrm>
            <a:off x="8011535" y="3396949"/>
            <a:ext cx="2944368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2"/>
                </a:solidFill>
              </a:rPr>
              <a:t>getContainerLabDeviceConfiguration</a:t>
            </a:r>
            <a:r>
              <a:rPr lang="en-US" sz="1200" dirty="0">
                <a:solidFill>
                  <a:schemeClr val="bg2"/>
                </a:solidFill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E3E69-BF5F-0C66-8D38-2062058CF8B6}"/>
              </a:ext>
            </a:extLst>
          </p:cNvPr>
          <p:cNvSpPr txBox="1"/>
          <p:nvPr/>
        </p:nvSpPr>
        <p:spPr>
          <a:xfrm>
            <a:off x="8011535" y="3952332"/>
            <a:ext cx="294436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2"/>
                </a:solidFill>
              </a:rPr>
              <a:t>executeCommandsOnContainerLabDevice</a:t>
            </a:r>
            <a:r>
              <a:rPr lang="en-US" sz="1200" dirty="0">
                <a:solidFill>
                  <a:schemeClr val="bg2"/>
                </a:solidFill>
              </a:rPr>
              <a:t>()</a:t>
            </a:r>
          </a:p>
          <a:p>
            <a:r>
              <a:rPr lang="en-US" sz="1200" dirty="0">
                <a:solidFill>
                  <a:schemeClr val="bg2"/>
                </a:solidFill>
              </a:rPr>
              <a:t>(with authorization mechanism!!)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3B8DE0A-89CC-2EAD-331F-B755E1BF8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80" y="3798906"/>
            <a:ext cx="4588672" cy="241117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EF72B24-E752-E021-F120-FE9213407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818790"/>
            <a:ext cx="4578512" cy="1680329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A48CEF1-9976-0EF1-F2F4-73B20B178424}"/>
              </a:ext>
            </a:extLst>
          </p:cNvPr>
          <p:cNvSpPr txBox="1"/>
          <p:nvPr/>
        </p:nvSpPr>
        <p:spPr>
          <a:xfrm>
            <a:off x="320040" y="1528938"/>
            <a:ext cx="394716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What get’s preloaded to LLM’s context on initialization:</a:t>
            </a:r>
          </a:p>
          <a:p>
            <a:pPr algn="l"/>
            <a:endParaRPr sz="1000" b="1" dirty="0">
              <a:solidFill>
                <a:schemeClr val="bg2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89A1A7-C156-F162-7574-350BE1EE2362}"/>
              </a:ext>
            </a:extLst>
          </p:cNvPr>
          <p:cNvSpPr txBox="1"/>
          <p:nvPr/>
        </p:nvSpPr>
        <p:spPr>
          <a:xfrm>
            <a:off x="309880" y="3510736"/>
            <a:ext cx="394716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When LLM ask’s for that tool, this is executed:</a:t>
            </a:r>
          </a:p>
          <a:p>
            <a:pPr algn="l"/>
            <a:endParaRPr sz="1000" b="1" dirty="0">
              <a:solidFill>
                <a:schemeClr val="bg2"/>
              </a:solidFill>
            </a:endParaRPr>
          </a:p>
        </p:txBody>
      </p:sp>
      <p:sp>
        <p:nvSpPr>
          <p:cNvPr id="55" name="Rounded Rectangle 19">
            <a:extLst>
              <a:ext uri="{FF2B5EF4-FFF2-40B4-BE49-F238E27FC236}">
                <a16:creationId xmlns:a16="http://schemas.microsoft.com/office/drawing/2014/main" id="{CEC27C5C-16CB-3523-8D12-754281D498E0}"/>
              </a:ext>
            </a:extLst>
          </p:cNvPr>
          <p:cNvSpPr/>
          <p:nvPr/>
        </p:nvSpPr>
        <p:spPr>
          <a:xfrm>
            <a:off x="5419699" y="5301535"/>
            <a:ext cx="2745891" cy="438653"/>
          </a:xfrm>
          <a:prstGeom prst="roundRect">
            <a:avLst>
              <a:gd name="adj" fmla="val 10000"/>
            </a:avLst>
          </a:prstGeom>
          <a:solidFill>
            <a:srgbClr val="0043C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1DBFC5-159C-878A-B6D2-EF896610D1F6}"/>
              </a:ext>
            </a:extLst>
          </p:cNvPr>
          <p:cNvSpPr txBox="1"/>
          <p:nvPr/>
        </p:nvSpPr>
        <p:spPr>
          <a:xfrm>
            <a:off x="5419699" y="5275109"/>
            <a:ext cx="294436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2"/>
                </a:solidFill>
              </a:rPr>
              <a:t>searchKnowledgeFiles</a:t>
            </a:r>
            <a:r>
              <a:rPr lang="en-US" sz="1200" dirty="0">
                <a:solidFill>
                  <a:schemeClr val="bg2"/>
                </a:solidFill>
              </a:rPr>
              <a:t>()</a:t>
            </a:r>
            <a:br>
              <a:rPr lang="en-US" sz="1200" dirty="0">
                <a:solidFill>
                  <a:schemeClr val="bg2"/>
                </a:solidFill>
              </a:rPr>
            </a:br>
            <a:r>
              <a:rPr lang="en-US" sz="1200" dirty="0">
                <a:solidFill>
                  <a:schemeClr val="bg2"/>
                </a:solidFill>
              </a:rPr>
              <a:t>(backup </a:t>
            </a:r>
            <a:r>
              <a:rPr lang="en-US" sz="1200" b="1" u="sng" dirty="0">
                <a:solidFill>
                  <a:schemeClr val="bg2"/>
                </a:solidFill>
              </a:rPr>
              <a:t>tool</a:t>
            </a:r>
            <a:r>
              <a:rPr lang="en-US" sz="1200" dirty="0">
                <a:solidFill>
                  <a:schemeClr val="bg2"/>
                </a:solidFill>
              </a:rPr>
              <a:t> if RAG fails)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43CE"/>
                </a:solidFill>
              </a:rPr>
              <a:t>Retrieval-Augmented</a:t>
            </a:r>
            <a:r>
              <a:rPr lang="en-US" dirty="0"/>
              <a:t> </a:t>
            </a:r>
            <a:r>
              <a:rPr lang="en-US" sz="2400" b="1" dirty="0">
                <a:solidFill>
                  <a:srgbClr val="0043CE"/>
                </a:solidFill>
              </a:rPr>
              <a:t>Generation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2923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300" b="0" dirty="0">
                <a:solidFill>
                  <a:srgbClr val="697077"/>
                </a:solidFill>
              </a:rPr>
              <a:t>How to pre-load context into LLM based on the “context approximation” from the prompt</a:t>
            </a:r>
            <a:endParaRPr sz="1300" b="0" dirty="0">
              <a:solidFill>
                <a:srgbClr val="69707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47120" cy="2286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88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7"/>
                </a:solidFill>
              </a:rPr>
              <a:t>© IBM Corporation 2026  |  Peter Havrila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54535" y="6537960"/>
            <a:ext cx="137160" cy="3200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9487" y="141732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002D9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User PROMPT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</a:rPr>
              <a:t>“Do we have cisco config standards in </a:t>
            </a:r>
            <a:r>
              <a:rPr lang="en-US" sz="1100" b="1" dirty="0" err="1">
                <a:solidFill>
                  <a:srgbClr val="FFFFFF"/>
                </a:solidFill>
              </a:rPr>
              <a:t>acmeco</a:t>
            </a:r>
            <a:r>
              <a:rPr lang="en-US" sz="1100" b="1" dirty="0">
                <a:solidFill>
                  <a:srgbClr val="FFFFFF"/>
                </a:solidFill>
              </a:rPr>
              <a:t>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6967" y="141732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0043C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RAG inserted BEFORE the prompt hits the LLM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24447" y="1417320"/>
            <a:ext cx="2011680" cy="1166620"/>
          </a:xfrm>
          <a:prstGeom prst="roundRect">
            <a:avLst>
              <a:gd name="adj" fmla="val 10000"/>
            </a:avLst>
          </a:prstGeom>
          <a:solidFill>
            <a:srgbClr val="009D9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LLM processes prompt + RAG chunks  as one input </a:t>
            </a:r>
            <a:endParaRPr sz="850" dirty="0">
              <a:solidFill>
                <a:srgbClr val="CCDD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21927" y="141732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198A3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Hopefully a “smart answer”</a:t>
            </a:r>
            <a:endParaRPr sz="850" dirty="0">
              <a:solidFill>
                <a:srgbClr val="CCDD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9487" y="2496312"/>
            <a:ext cx="201168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0043CE"/>
                </a:solidFill>
              </a:rPr>
              <a:t>STEP 1: </a:t>
            </a:r>
            <a:r>
              <a:rPr lang="en-US" sz="900" b="1" dirty="0">
                <a:solidFill>
                  <a:srgbClr val="0043CE"/>
                </a:solidFill>
              </a:rPr>
              <a:t>PROMPT INPUT</a:t>
            </a:r>
            <a:endParaRPr sz="900" b="1" dirty="0">
              <a:solidFill>
                <a:srgbClr val="0043C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18053" y="2487168"/>
            <a:ext cx="2196947" cy="5078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0043CE"/>
                </a:solidFill>
              </a:rPr>
              <a:t>STEP 2: </a:t>
            </a:r>
            <a:r>
              <a:rPr lang="en-US" sz="900" b="1" dirty="0">
                <a:solidFill>
                  <a:srgbClr val="0043CE"/>
                </a:solidFill>
              </a:rPr>
              <a:t>Extend the context with top K chunks of data/text from </a:t>
            </a:r>
            <a:r>
              <a:rPr lang="en-US" sz="900" b="1" dirty="0" err="1">
                <a:solidFill>
                  <a:srgbClr val="0043CE"/>
                </a:solidFill>
              </a:rPr>
              <a:t>chroma_db</a:t>
            </a:r>
            <a:r>
              <a:rPr lang="en-US" sz="900" b="1" dirty="0">
                <a:solidFill>
                  <a:srgbClr val="0043CE"/>
                </a:solidFill>
              </a:rPr>
              <a:t> that are closes to the prompt’s question</a:t>
            </a:r>
            <a:endParaRPr sz="900" b="1" dirty="0">
              <a:solidFill>
                <a:srgbClr val="0043C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24447" y="2623635"/>
            <a:ext cx="201168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0043CE"/>
                </a:solidFill>
              </a:rPr>
              <a:t>STEP 3: </a:t>
            </a:r>
            <a:r>
              <a:rPr lang="en-US" sz="900" b="1" dirty="0">
                <a:solidFill>
                  <a:srgbClr val="0043CE"/>
                </a:solidFill>
              </a:rPr>
              <a:t>LLM gets both prompt + RAG chunks</a:t>
            </a:r>
            <a:endParaRPr sz="900" b="1" dirty="0">
              <a:solidFill>
                <a:srgbClr val="0043C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21927" y="2496312"/>
            <a:ext cx="201168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0043CE"/>
                </a:solidFill>
              </a:rPr>
              <a:t>STEP 4: </a:t>
            </a:r>
            <a:r>
              <a:rPr lang="en-US" sz="900" b="1" dirty="0">
                <a:solidFill>
                  <a:srgbClr val="0043CE"/>
                </a:solidFill>
              </a:rPr>
              <a:t>LLM answers</a:t>
            </a:r>
            <a:endParaRPr sz="900" b="1" dirty="0">
              <a:solidFill>
                <a:srgbClr val="0043C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3063240"/>
            <a:ext cx="11551615" cy="27432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3127248"/>
            <a:ext cx="11551615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0043CE"/>
                </a:solidFill>
              </a:rPr>
              <a:t>HOW RAG is created in my case</a:t>
            </a:r>
            <a:endParaRPr sz="1400" b="1" dirty="0">
              <a:solidFill>
                <a:srgbClr val="0043C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0040" y="3474720"/>
            <a:ext cx="2682163" cy="292608"/>
          </a:xfrm>
          <a:prstGeom prst="rect">
            <a:avLst/>
          </a:prstGeom>
          <a:solidFill>
            <a:srgbClr val="002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3500120"/>
            <a:ext cx="2590723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Collection of Obsidian data 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3767328"/>
            <a:ext cx="2682163" cy="2130552"/>
          </a:xfrm>
          <a:prstGeom prst="rect">
            <a:avLst/>
          </a:prstGeom>
          <a:solidFill>
            <a:srgbClr val="F4F4F4"/>
          </a:solidFill>
          <a:ln w="6350">
            <a:solidFill>
              <a:srgbClr val="002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" y="3858768"/>
            <a:ext cx="2535859" cy="738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161616"/>
                </a:solidFill>
              </a:rPr>
              <a:t>Text in .md files</a:t>
            </a:r>
          </a:p>
          <a:p>
            <a:pPr algn="l"/>
            <a:r>
              <a:rPr lang="en-US" sz="1400" dirty="0">
                <a:solidFill>
                  <a:srgbClr val="161616"/>
                </a:solidFill>
              </a:rPr>
              <a:t>Pictures in random formats</a:t>
            </a:r>
          </a:p>
          <a:p>
            <a:pPr algn="l"/>
            <a:r>
              <a:rPr lang="en-US" sz="1400" dirty="0">
                <a:solidFill>
                  <a:srgbClr val="161616"/>
                </a:solidFill>
              </a:rPr>
              <a:t>Directory structure is important!</a:t>
            </a:r>
            <a:endParaRPr sz="1400" dirty="0">
              <a:solidFill>
                <a:srgbClr val="16161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093643" y="3474720"/>
            <a:ext cx="2682163" cy="292608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66795" y="3500120"/>
            <a:ext cx="2590723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Image Processing + Chunks parser!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093643" y="3767328"/>
            <a:ext cx="2682163" cy="2130552"/>
          </a:xfrm>
          <a:prstGeom prst="rect">
            <a:avLst/>
          </a:prstGeom>
          <a:solidFill>
            <a:srgbClr val="F4F4F4"/>
          </a:solidFill>
          <a:ln w="6350">
            <a:solidFill>
              <a:srgbClr val="004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66795" y="3858768"/>
            <a:ext cx="2535859" cy="17851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161616"/>
                </a:solidFill>
              </a:rPr>
              <a:t>This part is human assisted logic how to best structure the data into “chunks”</a:t>
            </a:r>
          </a:p>
          <a:p>
            <a:pPr algn="l"/>
            <a:endParaRPr lang="en-US" sz="1100" dirty="0">
              <a:solidFill>
                <a:srgbClr val="161616"/>
              </a:solidFill>
            </a:endParaRPr>
          </a:p>
          <a:p>
            <a:pPr algn="l"/>
            <a:r>
              <a:rPr lang="en-US" sz="1100" dirty="0">
                <a:solidFill>
                  <a:srgbClr val="161616"/>
                </a:solidFill>
              </a:rPr>
              <a:t>In my case, </a:t>
            </a:r>
            <a:br>
              <a:rPr lang="en-US" sz="1100" dirty="0">
                <a:solidFill>
                  <a:srgbClr val="161616"/>
                </a:solidFill>
              </a:rPr>
            </a:br>
            <a:r>
              <a:rPr lang="en-US" sz="1100" dirty="0">
                <a:solidFill>
                  <a:srgbClr val="161616"/>
                </a:solidFill>
              </a:rPr>
              <a:t>1) have AI pre-describe images to meta texts and insert them instead of ()[]</a:t>
            </a:r>
          </a:p>
          <a:p>
            <a:pPr algn="l"/>
            <a:r>
              <a:rPr lang="en-US" sz="1100" dirty="0">
                <a:solidFill>
                  <a:srgbClr val="161616"/>
                </a:solidFill>
              </a:rPr>
              <a:t>2) Infuse directory structure to the markdown as extra “level 0” header</a:t>
            </a:r>
          </a:p>
          <a:p>
            <a:pPr algn="l"/>
            <a:r>
              <a:rPr lang="en-US" sz="1100" dirty="0">
                <a:solidFill>
                  <a:srgbClr val="161616"/>
                </a:solidFill>
              </a:rPr>
              <a:t>3) If you need to cut large text to chunks, duplicate headlines</a:t>
            </a:r>
            <a:endParaRPr sz="1100" dirty="0">
              <a:solidFill>
                <a:srgbClr val="161616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867247" y="3474720"/>
            <a:ext cx="2682163" cy="292608"/>
          </a:xfrm>
          <a:prstGeom prst="rect">
            <a:avLst/>
          </a:prstGeom>
          <a:solidFill>
            <a:srgbClr val="00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0399" y="3500120"/>
            <a:ext cx="2590723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Vectorization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67247" y="3767328"/>
            <a:ext cx="2682163" cy="2130552"/>
          </a:xfrm>
          <a:prstGeom prst="rect">
            <a:avLst/>
          </a:prstGeom>
          <a:solidFill>
            <a:srgbClr val="F4F4F4"/>
          </a:solidFill>
          <a:ln w="635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0399" y="3858768"/>
            <a:ext cx="2535859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161616"/>
                </a:solidFill>
              </a:rPr>
              <a:t>Have AI vectorize the chunks into texts into numerical vectors</a:t>
            </a:r>
          </a:p>
          <a:p>
            <a:pPr algn="l"/>
            <a:endParaRPr lang="en-US" sz="1400" dirty="0">
              <a:solidFill>
                <a:srgbClr val="161616"/>
              </a:solidFill>
            </a:endParaRPr>
          </a:p>
          <a:p>
            <a:pPr algn="l"/>
            <a:r>
              <a:rPr lang="en-US" sz="1400" dirty="0">
                <a:solidFill>
                  <a:srgbClr val="161616"/>
                </a:solidFill>
              </a:rPr>
              <a:t>-literary every word is 1 and a something of tokens stored as </a:t>
            </a:r>
          </a:p>
          <a:p>
            <a:pPr algn="l"/>
            <a:r>
              <a:rPr lang="en-US" sz="1400" dirty="0">
                <a:solidFill>
                  <a:srgbClr val="161616"/>
                </a:solidFill>
              </a:rPr>
              <a:t>[0, 3, 5 ,6 ,7 , 2 , 4 …. ]</a:t>
            </a:r>
            <a:endParaRPr sz="1400" dirty="0">
              <a:solidFill>
                <a:srgbClr val="161616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640851" y="3474720"/>
            <a:ext cx="2682163" cy="292608"/>
          </a:xfrm>
          <a:prstGeom prst="rect">
            <a:avLst/>
          </a:prstGeom>
          <a:solidFill>
            <a:srgbClr val="198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40851" y="3500120"/>
            <a:ext cx="2808199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Context match K chunks based on your memory limits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640851" y="3767328"/>
            <a:ext cx="2808199" cy="2130552"/>
          </a:xfrm>
          <a:prstGeom prst="rect">
            <a:avLst/>
          </a:prstGeom>
          <a:solidFill>
            <a:srgbClr val="F4F4F4"/>
          </a:solidFill>
          <a:ln w="6350">
            <a:solidFill>
              <a:srgbClr val="198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14003" y="3858768"/>
            <a:ext cx="2658847" cy="1600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161616"/>
                </a:solidFill>
              </a:rPr>
              <a:t>E.g. get me k=5 documents that have words most context-related to the words in prompt</a:t>
            </a:r>
          </a:p>
          <a:p>
            <a:pPr algn="l"/>
            <a:endParaRPr lang="en-US" sz="1400" dirty="0">
              <a:solidFill>
                <a:srgbClr val="161616"/>
              </a:solidFill>
            </a:endParaRPr>
          </a:p>
          <a:p>
            <a:pPr algn="l"/>
            <a:r>
              <a:rPr lang="en-US" sz="1400" dirty="0">
                <a:solidFill>
                  <a:srgbClr val="161616"/>
                </a:solidFill>
              </a:rPr>
              <a:t>Yes, this is a game of chances and can fail.  This is why my Obsidian data structure matters very much. </a:t>
            </a:r>
            <a:endParaRPr sz="1400" dirty="0">
              <a:solidFill>
                <a:srgbClr val="161616"/>
              </a:solidFill>
            </a:endParaRPr>
          </a:p>
        </p:txBody>
      </p:sp>
      <p:pic>
        <p:nvPicPr>
          <p:cNvPr id="40" name="Picture 39" descr="w3logo.png">
            <a:extLst>
              <a:ext uri="{FF2B5EF4-FFF2-40B4-BE49-F238E27FC236}">
                <a16:creationId xmlns:a16="http://schemas.microsoft.com/office/drawing/2014/main" id="{9E188AEC-E908-75E4-2F3C-6BB768E9E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949" y="120430"/>
            <a:ext cx="1985342" cy="871694"/>
          </a:xfrm>
          <a:prstGeom prst="rect">
            <a:avLst/>
          </a:prstGeom>
        </p:spPr>
      </p:pic>
      <p:sp>
        <p:nvSpPr>
          <p:cNvPr id="42" name="Arrow: Right 41">
            <a:extLst>
              <a:ext uri="{FF2B5EF4-FFF2-40B4-BE49-F238E27FC236}">
                <a16:creationId xmlns:a16="http://schemas.microsoft.com/office/drawing/2014/main" id="{4AE4F535-F5C1-6E09-07F5-E3794869C0D8}"/>
              </a:ext>
            </a:extLst>
          </p:cNvPr>
          <p:cNvSpPr/>
          <p:nvPr/>
        </p:nvSpPr>
        <p:spPr>
          <a:xfrm>
            <a:off x="2794863" y="1698752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EF441F5D-2DC1-5933-BDFB-34870D22A8E7}"/>
              </a:ext>
            </a:extLst>
          </p:cNvPr>
          <p:cNvSpPr/>
          <p:nvPr/>
        </p:nvSpPr>
        <p:spPr>
          <a:xfrm>
            <a:off x="5486400" y="1734199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1B6CD9F8-C0FD-2C79-FFE5-FB90445F0A57}"/>
              </a:ext>
            </a:extLst>
          </p:cNvPr>
          <p:cNvSpPr/>
          <p:nvPr/>
        </p:nvSpPr>
        <p:spPr>
          <a:xfrm>
            <a:off x="8254999" y="1720845"/>
            <a:ext cx="872165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40C1AC-C64E-69A2-1F2E-9825A691A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49" y="1252747"/>
            <a:ext cx="555654" cy="574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8CB6-386D-78E0-3ADF-11A56281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5090D4-7152-FAF2-FDE8-A0EC486E76A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4E009-F025-6FA3-E68C-17779E5E2650}"/>
              </a:ext>
            </a:extLst>
          </p:cNvPr>
          <p:cNvSpPr/>
          <p:nvPr/>
        </p:nvSpPr>
        <p:spPr>
          <a:xfrm>
            <a:off x="10545775" y="120650"/>
            <a:ext cx="1645920" cy="1841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EDFFD-B918-DAB2-63A0-85D426016352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E43D53-A9F8-F8BC-782A-EC7353011734}"/>
              </a:ext>
            </a:extLst>
          </p:cNvPr>
          <p:cNvSpPr/>
          <p:nvPr/>
        </p:nvSpPr>
        <p:spPr>
          <a:xfrm>
            <a:off x="9169399" y="279400"/>
            <a:ext cx="3022295" cy="1543050"/>
          </a:xfrm>
          <a:prstGeom prst="rect">
            <a:avLst/>
          </a:prstGeom>
          <a:solidFill>
            <a:srgbClr val="002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3logo.png">
            <a:extLst>
              <a:ext uri="{FF2B5EF4-FFF2-40B4-BE49-F238E27FC236}">
                <a16:creationId xmlns:a16="http://schemas.microsoft.com/office/drawing/2014/main" id="{53E12CB5-9667-E846-6ABE-D36B0531B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423" y="457200"/>
            <a:ext cx="2560320" cy="1188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3377E5-2DED-CD32-BA37-56144BDF3DDF}"/>
              </a:ext>
            </a:extLst>
          </p:cNvPr>
          <p:cNvSpPr txBox="1"/>
          <p:nvPr/>
        </p:nvSpPr>
        <p:spPr>
          <a:xfrm>
            <a:off x="365760" y="1463040"/>
            <a:ext cx="8229600" cy="8925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sz="5200" b="1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EFF55-15EB-2D6B-D79E-B62F20C45DEB}"/>
              </a:ext>
            </a:extLst>
          </p:cNvPr>
          <p:cNvSpPr txBox="1"/>
          <p:nvPr/>
        </p:nvSpPr>
        <p:spPr>
          <a:xfrm>
            <a:off x="365760" y="2834640"/>
            <a:ext cx="296273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sz="2200" dirty="0">
                <a:solidFill>
                  <a:srgbClr val="1192E8"/>
                </a:solidFill>
              </a:rPr>
              <a:t>You can wake up now … </a:t>
            </a:r>
            <a:endParaRPr sz="2200" dirty="0">
              <a:solidFill>
                <a:srgbClr val="1192E8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635729-A387-68B5-1A27-8D732DBF2519}"/>
              </a:ext>
            </a:extLst>
          </p:cNvPr>
          <p:cNvSpPr/>
          <p:nvPr/>
        </p:nvSpPr>
        <p:spPr>
          <a:xfrm>
            <a:off x="365760" y="4160520"/>
            <a:ext cx="8229600" cy="27432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FFFAE5-1590-D615-6934-62C13F6C9E07}"/>
              </a:ext>
            </a:extLst>
          </p:cNvPr>
          <p:cNvSpPr txBox="1"/>
          <p:nvPr/>
        </p:nvSpPr>
        <p:spPr>
          <a:xfrm>
            <a:off x="365760" y="4279392"/>
            <a:ext cx="1803699" cy="2616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697077"/>
                </a:solidFill>
              </a:rPr>
              <a:t>Peter Havrila  | IBM  | 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CC2371-0BD7-DE3F-154C-37F1ED2A6DCD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979F62-C154-2D28-67F2-98C247BE0E68}"/>
              </a:ext>
            </a:extLst>
          </p:cNvPr>
          <p:cNvSpPr txBox="1"/>
          <p:nvPr/>
        </p:nvSpPr>
        <p:spPr>
          <a:xfrm>
            <a:off x="228600" y="656539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7"/>
                </a:solidFill>
              </a:rPr>
              <a:t>© IBM Corporation 2026  |  Peter Havrila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8E3467-47F9-5552-0E29-FC0DA1D97A46}"/>
              </a:ext>
            </a:extLst>
          </p:cNvPr>
          <p:cNvSpPr/>
          <p:nvPr/>
        </p:nvSpPr>
        <p:spPr>
          <a:xfrm>
            <a:off x="12054535" y="6537960"/>
            <a:ext cx="137160" cy="3200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8939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751</Words>
  <Application>Microsoft Office PowerPoint</Application>
  <PresentationFormat>Widescreen</PresentationFormat>
  <Paragraphs>82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Peter Havrila</dc:creator>
  <cp:keywords/>
  <dc:description>generated using python-pptx</dc:description>
  <cp:lastModifiedBy>Peter Havrila</cp:lastModifiedBy>
  <cp:revision>21</cp:revision>
  <dcterms:created xsi:type="dcterms:W3CDTF">2013-01-27T09:14:16Z</dcterms:created>
  <dcterms:modified xsi:type="dcterms:W3CDTF">2026-04-13T16:11:11Z</dcterms:modified>
  <cp:category/>
</cp:coreProperties>
</file>